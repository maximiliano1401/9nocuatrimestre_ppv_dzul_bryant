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Calibri (MS)" charset="1" panose="020F0502020204030204"/>
      <p:regular r:id="rId18"/>
    </p:embeddedFont>
    <p:embeddedFont>
      <p:font typeface="Calibri (MS) Bold" charset="1" panose="020F07020304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5616" y="1569949"/>
            <a:ext cx="7062368" cy="3551549"/>
            <a:chOff x="0" y="0"/>
            <a:chExt cx="9416491" cy="47353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6488" cy="4735404"/>
            </a:xfrm>
            <a:custGeom>
              <a:avLst/>
              <a:gdLst/>
              <a:ahLst/>
              <a:cxnLst/>
              <a:rect r="r" b="b" t="t" l="l"/>
              <a:pathLst>
                <a:path h="4735404" w="9416488">
                  <a:moveTo>
                    <a:pt x="0" y="0"/>
                  </a:moveTo>
                  <a:lnTo>
                    <a:pt x="9416488" y="0"/>
                  </a:lnTo>
                  <a:lnTo>
                    <a:pt x="9416488" y="4735404"/>
                  </a:lnTo>
                  <a:lnTo>
                    <a:pt x="0" y="47354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521" t="0" r="-1452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416491" cy="4792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912"/>
                </a:lnSpc>
              </a:pPr>
              <a:r>
                <a:rPr lang="en-US" sz="6400" spc="-24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Metodología</a:t>
              </a:r>
              <a:r>
                <a:rPr lang="en-US" sz="6400" spc="-24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6400" spc="-240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FDD</a:t>
              </a:r>
            </a:p>
            <a:p>
              <a:pPr algn="ctr">
                <a:lnSpc>
                  <a:spcPts val="3686"/>
                </a:lnSpc>
              </a:pPr>
              <a:r>
                <a:rPr lang="en-US" sz="3413" spc="-23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Feature Driven Development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64569" y="4539948"/>
            <a:ext cx="6824452" cy="9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5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Bryan Maximiliano Dzul Perez</a:t>
            </a:r>
          </a:p>
          <a:p>
            <a:pPr algn="l">
              <a:lnSpc>
                <a:spcPts val="1555"/>
              </a:lnSpc>
            </a:pPr>
          </a:p>
          <a:p>
            <a:pPr algn="l">
              <a:lnSpc>
                <a:spcPts val="1555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Materia: Proyecto de una Plataforma Virtual</a:t>
            </a:r>
          </a:p>
          <a:p>
            <a:pPr algn="l">
              <a:lnSpc>
                <a:spcPts val="1555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Prof. Mario Alonso Segovia Gutiérrez</a:t>
            </a:r>
          </a:p>
          <a:p>
            <a:pPr algn="l">
              <a:lnSpc>
                <a:spcPts val="1555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29/05/2026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3772843" cy="1127478"/>
            <a:chOff x="0" y="0"/>
            <a:chExt cx="5030457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30451" cy="1503310"/>
            </a:xfrm>
            <a:custGeom>
              <a:avLst/>
              <a:gdLst/>
              <a:ahLst/>
              <a:cxnLst/>
              <a:rect r="r" b="b" t="t" l="l"/>
              <a:pathLst>
                <a:path h="1503310" w="5030451">
                  <a:moveTo>
                    <a:pt x="0" y="0"/>
                  </a:moveTo>
                  <a:lnTo>
                    <a:pt x="5030451" y="0"/>
                  </a:lnTo>
                  <a:lnTo>
                    <a:pt x="5030451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02" r="0" b="-152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30457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¿Qué es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FDD</a:t>
              </a: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1012" y="2345493"/>
            <a:ext cx="4004358" cy="2973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7"/>
              </a:lnSpc>
            </a:pP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 </a:t>
            </a:r>
            <a:r>
              <a:rPr lang="en-US" b="true" sz="200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Driven Development (FDD) </a:t>
            </a: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 una metodolgía ágil diseñada para organizar el Desarrollo de software enfocándose en características tangibles y valoradas por el cliente.</a:t>
            </a:r>
          </a:p>
          <a:p>
            <a:pPr algn="just">
              <a:lnSpc>
                <a:spcPts val="2167"/>
              </a:lnSpc>
            </a:pPr>
          </a:p>
          <a:p>
            <a:pPr algn="just">
              <a:lnSpc>
                <a:spcPts val="2167"/>
              </a:lnSpc>
            </a:pP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 objetivo principal es entregar software functional de forma repetible, oportuna y bajo procesos de ingenieria estrictos, evitando la ambigüedad.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012" y="1810255"/>
            <a:ext cx="3589992" cy="3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00FFFF"/>
                </a:solidFill>
                <a:latin typeface="Calibri (MS)"/>
                <a:ea typeface="Calibri (MS)"/>
                <a:cs typeface="Calibri (MS)"/>
                <a:sym typeface="Calibri (MS)"/>
              </a:rPr>
              <a:t>Definición y 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17722" y="2345493"/>
            <a:ext cx="4004358" cy="324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58244" indent="-129122" lvl="1">
              <a:lnSpc>
                <a:spcPts val="2167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Superar la complejidad de proyectos masivos que las metodologías tradicionales no podían manejar.</a:t>
            </a:r>
          </a:p>
          <a:p>
            <a:pPr algn="just" marL="258244" indent="-129122" lvl="1">
              <a:lnSpc>
                <a:spcPts val="2167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Evitar la falta de visibilidad del progreso en el desarrollo</a:t>
            </a:r>
          </a:p>
          <a:p>
            <a:pPr algn="just" marL="258244" indent="-129122" lvl="1">
              <a:lnSpc>
                <a:spcPts val="2167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Minimizar el riesgo de integración dividiendo el sistema en módulos manejables</a:t>
            </a:r>
          </a:p>
          <a:p>
            <a:pPr algn="just" marL="258244" indent="-129122" lvl="1">
              <a:lnSpc>
                <a:spcPts val="2167"/>
              </a:lnSpc>
              <a:buFont typeface="Arial"/>
              <a:buChar char="•"/>
            </a:pPr>
            <a:r>
              <a:rPr lang="en-US" sz="200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Establecer un puente claro entre la necesidad del negocio y el código técnico.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7722" y="1810255"/>
            <a:ext cx="3589992" cy="3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¿Qué busca resolver?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5201583" cy="1127474"/>
            <a:chOff x="0" y="0"/>
            <a:chExt cx="6935445" cy="1503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35446" cy="1503305"/>
            </a:xfrm>
            <a:custGeom>
              <a:avLst/>
              <a:gdLst/>
              <a:ahLst/>
              <a:cxnLst/>
              <a:rect r="r" b="b" t="t" l="l"/>
              <a:pathLst>
                <a:path h="1503305" w="6935446">
                  <a:moveTo>
                    <a:pt x="0" y="0"/>
                  </a:moveTo>
                  <a:lnTo>
                    <a:pt x="6935446" y="0"/>
                  </a:lnTo>
                  <a:lnTo>
                    <a:pt x="6935446" y="1503305"/>
                  </a:lnTo>
                  <a:lnTo>
                    <a:pt x="0" y="15033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893" r="0" b="-398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935445" cy="1541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Contexto y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Origen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1520" y="1651854"/>
            <a:ext cx="4674449" cy="406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74546" indent="-137273" lvl="1">
              <a:lnSpc>
                <a:spcPts val="2304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Creada en 1997 por Jeff De Luca y refinada por Peter Coad.</a:t>
            </a:r>
          </a:p>
          <a:p>
            <a:pPr algn="just" marL="274546" indent="-137273" lvl="1">
              <a:lnSpc>
                <a:spcPts val="2304"/>
              </a:lnSpc>
              <a:buFont typeface="Arial"/>
              <a:buChar char="•"/>
            </a:pPr>
            <a:r>
              <a:rPr lang="en-US" b="true" sz="213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problema: 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 gigantesco proyecto de software de 15 meses y 50 personas para un gran </a:t>
            </a:r>
            <a:r>
              <a:rPr lang="en-US" b="true" sz="213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banco de Singapur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estaba al borde del fracaso por su alta complejidad.</a:t>
            </a:r>
          </a:p>
          <a:p>
            <a:pPr algn="just" marL="274546" indent="-137273" lvl="1">
              <a:lnSpc>
                <a:spcPts val="2304"/>
              </a:lnSpc>
              <a:buFont typeface="Arial"/>
              <a:buChar char="•"/>
            </a:pPr>
            <a:r>
              <a:rPr lang="en-US" b="true" sz="213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Solución: 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 Luca diseñó un enfoque de 5 pasos centrado en iteraciones cortas (modelo, listas, planificación, diseño y construcción)</a:t>
            </a:r>
          </a:p>
          <a:p>
            <a:pPr algn="just" marL="274546" indent="-137273" lvl="1">
              <a:lnSpc>
                <a:spcPts val="2304"/>
              </a:lnSpc>
              <a:buFont typeface="Arial"/>
              <a:buChar char="•"/>
            </a:pPr>
            <a:r>
              <a:rPr lang="en-US" b="true" sz="213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Impacto: 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Permitió a equipos grandes ser adaptables, respondiendo a requerimientos cambiantes.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618483" y="2479038"/>
            <a:ext cx="3403597" cy="2357123"/>
            <a:chOff x="0" y="0"/>
            <a:chExt cx="4538129" cy="31428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38091" cy="3142869"/>
            </a:xfrm>
            <a:custGeom>
              <a:avLst/>
              <a:gdLst/>
              <a:ahLst/>
              <a:cxnLst/>
              <a:rect r="r" b="b" t="t" l="l"/>
              <a:pathLst>
                <a:path h="3142869" w="4538091">
                  <a:moveTo>
                    <a:pt x="0" y="0"/>
                  </a:moveTo>
                  <a:lnTo>
                    <a:pt x="4538091" y="0"/>
                  </a:lnTo>
                  <a:lnTo>
                    <a:pt x="4538091" y="3142869"/>
                  </a:lnTo>
                  <a:lnTo>
                    <a:pt x="0" y="3142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7932591" cy="1127474"/>
            <a:chOff x="0" y="0"/>
            <a:chExt cx="10576789" cy="1503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76791" cy="1503305"/>
            </a:xfrm>
            <a:custGeom>
              <a:avLst/>
              <a:gdLst/>
              <a:ahLst/>
              <a:cxnLst/>
              <a:rect r="r" b="b" t="t" l="l"/>
              <a:pathLst>
                <a:path h="1503305" w="10576791">
                  <a:moveTo>
                    <a:pt x="0" y="0"/>
                  </a:moveTo>
                  <a:lnTo>
                    <a:pt x="10576791" y="0"/>
                  </a:lnTo>
                  <a:lnTo>
                    <a:pt x="10576791" y="1503305"/>
                  </a:lnTo>
                  <a:lnTo>
                    <a:pt x="0" y="15033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0" b="-870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76789" cy="15413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Funcionamiento: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Procesos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0772" y="1684749"/>
            <a:ext cx="579402" cy="605910"/>
          </a:xfrm>
          <a:custGeom>
            <a:avLst/>
            <a:gdLst/>
            <a:ahLst/>
            <a:cxnLst/>
            <a:rect r="r" b="b" t="t" l="l"/>
            <a:pathLst>
              <a:path h="605910" w="579402">
                <a:moveTo>
                  <a:pt x="0" y="0"/>
                </a:moveTo>
                <a:lnTo>
                  <a:pt x="579402" y="0"/>
                </a:lnTo>
                <a:lnTo>
                  <a:pt x="579402" y="605910"/>
                </a:lnTo>
                <a:lnTo>
                  <a:pt x="0" y="60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7861" y="2788407"/>
            <a:ext cx="483459" cy="642471"/>
          </a:xfrm>
          <a:custGeom>
            <a:avLst/>
            <a:gdLst/>
            <a:ahLst/>
            <a:cxnLst/>
            <a:rect r="r" b="b" t="t" l="l"/>
            <a:pathLst>
              <a:path h="642471" w="483459">
                <a:moveTo>
                  <a:pt x="0" y="0"/>
                </a:moveTo>
                <a:lnTo>
                  <a:pt x="483460" y="0"/>
                </a:lnTo>
                <a:lnTo>
                  <a:pt x="483460" y="642471"/>
                </a:lnTo>
                <a:lnTo>
                  <a:pt x="0" y="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3195" y="3741179"/>
            <a:ext cx="586471" cy="549816"/>
          </a:xfrm>
          <a:custGeom>
            <a:avLst/>
            <a:gdLst/>
            <a:ahLst/>
            <a:cxnLst/>
            <a:rect r="r" b="b" t="t" l="l"/>
            <a:pathLst>
              <a:path h="549816" w="586471">
                <a:moveTo>
                  <a:pt x="0" y="0"/>
                </a:moveTo>
                <a:lnTo>
                  <a:pt x="586471" y="0"/>
                </a:lnTo>
                <a:lnTo>
                  <a:pt x="586471" y="549817"/>
                </a:lnTo>
                <a:lnTo>
                  <a:pt x="0" y="5498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3195" y="4729146"/>
            <a:ext cx="536979" cy="585263"/>
          </a:xfrm>
          <a:custGeom>
            <a:avLst/>
            <a:gdLst/>
            <a:ahLst/>
            <a:cxnLst/>
            <a:rect r="r" b="b" t="t" l="l"/>
            <a:pathLst>
              <a:path h="585263" w="536979">
                <a:moveTo>
                  <a:pt x="0" y="0"/>
                </a:moveTo>
                <a:lnTo>
                  <a:pt x="536979" y="0"/>
                </a:lnTo>
                <a:lnTo>
                  <a:pt x="536979" y="585263"/>
                </a:lnTo>
                <a:lnTo>
                  <a:pt x="0" y="5852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7861" y="5803530"/>
            <a:ext cx="506602" cy="485705"/>
          </a:xfrm>
          <a:custGeom>
            <a:avLst/>
            <a:gdLst/>
            <a:ahLst/>
            <a:cxnLst/>
            <a:rect r="r" b="b" t="t" l="l"/>
            <a:pathLst>
              <a:path h="485705" w="506602">
                <a:moveTo>
                  <a:pt x="0" y="0"/>
                </a:moveTo>
                <a:lnTo>
                  <a:pt x="506603" y="0"/>
                </a:lnTo>
                <a:lnTo>
                  <a:pt x="506603" y="485705"/>
                </a:lnTo>
                <a:lnTo>
                  <a:pt x="0" y="485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7134" y="1606153"/>
            <a:ext cx="7804946" cy="6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4"/>
              </a:lnSpc>
            </a:pPr>
            <a:r>
              <a:rPr lang="en-US" sz="2133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 Modelo Global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: Se crea un modelo de dominio colaborativo para entender el problema central del negocio.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134" y="2636187"/>
            <a:ext cx="7804946" cy="91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4"/>
              </a:lnSpc>
            </a:pPr>
            <a:r>
              <a:rPr lang="en-US" sz="2133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 la Lista de Features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: Se agrupan los requerimientos en características pequeñas que aporten valor al cliente (acción, resultado, objeto)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134" y="3666220"/>
            <a:ext cx="7804946" cy="6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4"/>
              </a:lnSpc>
            </a:pPr>
            <a:r>
              <a:rPr lang="en-US" sz="2133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Planear por Función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: Se priorizan y asignan las features a los programadores evaluando, riesgos, carga de trabajo y dependencias.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134" y="4696254"/>
            <a:ext cx="7804946" cy="6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4"/>
              </a:lnSpc>
            </a:pPr>
            <a:r>
              <a:rPr lang="en-US" sz="2133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Diseñar por Función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: El programador jefe revisa y diseña el paquete técnico de la funcionalidad junto al equipo.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1092" y="5726287"/>
            <a:ext cx="7880988" cy="63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4"/>
              </a:lnSpc>
            </a:pPr>
            <a:r>
              <a:rPr lang="en-US" sz="2133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 por Función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: Se codifica, se prueba y se inspecciona. Si aprueba, se integra al sistema principal inmediatamente.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8837" y="731520"/>
            <a:ext cx="5995927" cy="5852160"/>
          </a:xfrm>
          <a:custGeom>
            <a:avLst/>
            <a:gdLst/>
            <a:ahLst/>
            <a:cxnLst/>
            <a:rect r="r" b="b" t="t" l="l"/>
            <a:pathLst>
              <a:path h="5852160" w="5995927">
                <a:moveTo>
                  <a:pt x="0" y="0"/>
                </a:moveTo>
                <a:lnTo>
                  <a:pt x="5995926" y="0"/>
                </a:lnTo>
                <a:lnTo>
                  <a:pt x="5995926" y="5852160"/>
                </a:lnTo>
                <a:lnTo>
                  <a:pt x="0" y="585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7932591" cy="1127478"/>
            <a:chOff x="0" y="0"/>
            <a:chExt cx="10576789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76791" cy="1503310"/>
            </a:xfrm>
            <a:custGeom>
              <a:avLst/>
              <a:gdLst/>
              <a:ahLst/>
              <a:cxnLst/>
              <a:rect r="r" b="b" t="t" l="l"/>
              <a:pathLst>
                <a:path h="1503310" w="10576791">
                  <a:moveTo>
                    <a:pt x="0" y="0"/>
                  </a:moveTo>
                  <a:lnTo>
                    <a:pt x="10576791" y="0"/>
                  </a:lnTo>
                  <a:lnTo>
                    <a:pt x="10576791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0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76789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Organización y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Roles del Equipo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9363" y="2529253"/>
            <a:ext cx="748237" cy="928046"/>
          </a:xfrm>
          <a:custGeom>
            <a:avLst/>
            <a:gdLst/>
            <a:ahLst/>
            <a:cxnLst/>
            <a:rect r="r" b="b" t="t" l="l"/>
            <a:pathLst>
              <a:path h="928046" w="748237">
                <a:moveTo>
                  <a:pt x="0" y="0"/>
                </a:moveTo>
                <a:lnTo>
                  <a:pt x="748237" y="0"/>
                </a:lnTo>
                <a:lnTo>
                  <a:pt x="748237" y="928046"/>
                </a:lnTo>
                <a:lnTo>
                  <a:pt x="0" y="928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28503" y="2593918"/>
            <a:ext cx="941049" cy="798716"/>
          </a:xfrm>
          <a:custGeom>
            <a:avLst/>
            <a:gdLst/>
            <a:ahLst/>
            <a:cxnLst/>
            <a:rect r="r" b="b" t="t" l="l"/>
            <a:pathLst>
              <a:path h="798716" w="941049">
                <a:moveTo>
                  <a:pt x="0" y="0"/>
                </a:moveTo>
                <a:lnTo>
                  <a:pt x="941049" y="0"/>
                </a:lnTo>
                <a:lnTo>
                  <a:pt x="941049" y="798715"/>
                </a:lnTo>
                <a:lnTo>
                  <a:pt x="0" y="798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11546" y="2593918"/>
            <a:ext cx="997145" cy="805195"/>
          </a:xfrm>
          <a:custGeom>
            <a:avLst/>
            <a:gdLst/>
            <a:ahLst/>
            <a:cxnLst/>
            <a:rect r="r" b="b" t="t" l="l"/>
            <a:pathLst>
              <a:path h="805195" w="997145">
                <a:moveTo>
                  <a:pt x="0" y="0"/>
                </a:moveTo>
                <a:lnTo>
                  <a:pt x="997145" y="0"/>
                </a:lnTo>
                <a:lnTo>
                  <a:pt x="997145" y="805195"/>
                </a:lnTo>
                <a:lnTo>
                  <a:pt x="0" y="805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06936" y="2658583"/>
            <a:ext cx="798716" cy="798716"/>
          </a:xfrm>
          <a:custGeom>
            <a:avLst/>
            <a:gdLst/>
            <a:ahLst/>
            <a:cxnLst/>
            <a:rect r="r" b="b" t="t" l="l"/>
            <a:pathLst>
              <a:path h="798716" w="798716">
                <a:moveTo>
                  <a:pt x="0" y="0"/>
                </a:moveTo>
                <a:lnTo>
                  <a:pt x="798715" y="0"/>
                </a:lnTo>
                <a:lnTo>
                  <a:pt x="798715" y="798716"/>
                </a:lnTo>
                <a:lnTo>
                  <a:pt x="0" y="7987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9591" y="3638550"/>
            <a:ext cx="1907781" cy="236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</a:pPr>
            <a:r>
              <a:rPr lang="en-US" sz="1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Manager</a:t>
            </a:r>
          </a:p>
          <a:p>
            <a:pPr algn="just">
              <a:lnSpc>
                <a:spcPts val="2051"/>
              </a:lnSpc>
            </a:pPr>
          </a:p>
          <a:p>
            <a:pPr algn="ctr">
              <a:lnSpc>
                <a:spcPts val="2051"/>
              </a:lnSpc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 el proyecto, presupuestos y cronogramas. Es el puente administrativo principal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3968" y="3638550"/>
            <a:ext cx="1990118" cy="184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</a:pPr>
            <a:r>
              <a:rPr lang="en-US" sz="1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Chief Architect</a:t>
            </a:r>
          </a:p>
          <a:p>
            <a:pPr algn="just">
              <a:lnSpc>
                <a:spcPts val="2051"/>
              </a:lnSpc>
            </a:pPr>
          </a:p>
          <a:p>
            <a:pPr algn="ctr">
              <a:lnSpc>
                <a:spcPts val="2051"/>
              </a:lnSpc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Lidera el modelado del dominio. Define la arquitectura global y asegura la integridad técnica.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83147" y="3638550"/>
            <a:ext cx="1942853" cy="210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</a:pPr>
            <a:r>
              <a:rPr lang="en-US" sz="1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Chief Programmer</a:t>
            </a:r>
          </a:p>
          <a:p>
            <a:pPr algn="ctr">
              <a:lnSpc>
                <a:spcPts val="2051"/>
              </a:lnSpc>
            </a:pPr>
          </a:p>
          <a:p>
            <a:pPr algn="ctr">
              <a:lnSpc>
                <a:spcPts val="2051"/>
              </a:lnSpc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Lidera equipos de funcionalidad temporales. Coordina diseño, código y revisiones ténicos.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8157" y="3638550"/>
            <a:ext cx="1823923" cy="210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</a:pPr>
            <a:r>
              <a:rPr lang="en-US" sz="1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Owner</a:t>
            </a:r>
          </a:p>
          <a:p>
            <a:pPr algn="just">
              <a:lnSpc>
                <a:spcPts val="2051"/>
              </a:lnSpc>
            </a:pPr>
          </a:p>
          <a:p>
            <a:pPr algn="ctr">
              <a:lnSpc>
                <a:spcPts val="2051"/>
              </a:lnSpc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Desarrolladores responsables de la consistencia, rendimiento y código de clases específicas.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7932591" cy="1127478"/>
            <a:chOff x="0" y="0"/>
            <a:chExt cx="10576789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76791" cy="1503310"/>
            </a:xfrm>
            <a:custGeom>
              <a:avLst/>
              <a:gdLst/>
              <a:ahLst/>
              <a:cxnLst/>
              <a:rect r="r" b="b" t="t" l="l"/>
              <a:pathLst>
                <a:path h="1503310" w="10576791">
                  <a:moveTo>
                    <a:pt x="0" y="0"/>
                  </a:moveTo>
                  <a:lnTo>
                    <a:pt x="10576791" y="0"/>
                  </a:lnTo>
                  <a:lnTo>
                    <a:pt x="10576791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0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76789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tareas y avance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1520" y="1363086"/>
            <a:ext cx="8290560" cy="5220594"/>
          </a:xfrm>
          <a:custGeom>
            <a:avLst/>
            <a:gdLst/>
            <a:ahLst/>
            <a:cxnLst/>
            <a:rect r="r" b="b" t="t" l="l"/>
            <a:pathLst>
              <a:path h="5220594" w="8290560">
                <a:moveTo>
                  <a:pt x="0" y="0"/>
                </a:moveTo>
                <a:lnTo>
                  <a:pt x="8290560" y="0"/>
                </a:lnTo>
                <a:lnTo>
                  <a:pt x="8290560" y="5220594"/>
                </a:lnTo>
                <a:lnTo>
                  <a:pt x="0" y="5220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8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1520" y="2737104"/>
            <a:ext cx="1907781" cy="177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8000" b="true">
                <a:solidFill>
                  <a:srgbClr val="00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</a:t>
            </a:r>
          </a:p>
          <a:p>
            <a:pPr algn="ctr">
              <a:lnSpc>
                <a:spcPts val="2051"/>
              </a:lnSpc>
            </a:pPr>
            <a:r>
              <a:rPr lang="en-US" sz="1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Días máximo</a:t>
            </a:r>
          </a:p>
          <a:p>
            <a:pPr algn="ctr">
              <a:lnSpc>
                <a:spcPts val="1188"/>
              </a:lnSpc>
            </a:pPr>
          </a:p>
          <a:p>
            <a:pPr algn="ctr">
              <a:lnSpc>
                <a:spcPts val="1188"/>
              </a:lnSpc>
            </a:pPr>
            <a:r>
              <a:rPr lang="en-US" sz="1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(Tiempo límite por feature)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47631" y="2233676"/>
            <a:ext cx="4674449" cy="281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sz="213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Estricto y Priorización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 FDD, el trabajo se divide en </a:t>
            </a: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features minúsculas.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 una funcionalidad toma más de dos semanas. debe subdivirse. Esto garantiza un flujo constante.</a:t>
            </a:r>
          </a:p>
          <a:p>
            <a:pPr algn="just">
              <a:lnSpc>
                <a:spcPts val="1727"/>
              </a:lnSpc>
            </a:pPr>
          </a:p>
          <a:p>
            <a:pPr algn="l" marL="345439" indent="-172720" lvl="1">
              <a:lnSpc>
                <a:spcPts val="1727"/>
              </a:lnSpc>
              <a:buFont typeface="Arial"/>
              <a:buChar char="•"/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Avance por Hitos: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Cada feature paso por hitos medibles (Diseño, Desarrolla, Pruebas).</a:t>
            </a:r>
          </a:p>
          <a:p>
            <a:pPr algn="l" marL="345439" indent="-172720" lvl="1">
              <a:lnSpc>
                <a:spcPts val="1727"/>
              </a:lnSpc>
              <a:buFont typeface="Arial"/>
              <a:buChar char="•"/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Prioridad: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Basada en valor para el negocio y dependencias técnicas.</a:t>
            </a:r>
          </a:p>
          <a:p>
            <a:pPr algn="l" marL="345439" indent="-172720" lvl="1">
              <a:lnSpc>
                <a:spcPts val="1727"/>
              </a:lnSpc>
              <a:buFont typeface="Arial"/>
              <a:buChar char="•"/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Herramientas: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Uso de Git, Jira/Trello y reposito de control continuo.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7932591" cy="1127478"/>
            <a:chOff x="0" y="0"/>
            <a:chExt cx="10576789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76791" cy="1503310"/>
            </a:xfrm>
            <a:custGeom>
              <a:avLst/>
              <a:gdLst/>
              <a:ahLst/>
              <a:cxnLst/>
              <a:rect r="r" b="b" t="t" l="l"/>
              <a:pathLst>
                <a:path h="1503310" w="10576791">
                  <a:moveTo>
                    <a:pt x="0" y="0"/>
                  </a:moveTo>
                  <a:lnTo>
                    <a:pt x="10576791" y="0"/>
                  </a:lnTo>
                  <a:lnTo>
                    <a:pt x="10576791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0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76789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Análisis: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Ventajas y Desventajas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65120" y="5275370"/>
            <a:ext cx="2223359" cy="1484092"/>
          </a:xfrm>
          <a:custGeom>
            <a:avLst/>
            <a:gdLst/>
            <a:ahLst/>
            <a:cxnLst/>
            <a:rect r="r" b="b" t="t" l="l"/>
            <a:pathLst>
              <a:path h="1484092" w="2223359">
                <a:moveTo>
                  <a:pt x="0" y="0"/>
                </a:moveTo>
                <a:lnTo>
                  <a:pt x="2223360" y="0"/>
                </a:lnTo>
                <a:lnTo>
                  <a:pt x="2223360" y="1484093"/>
                </a:lnTo>
                <a:lnTo>
                  <a:pt x="0" y="1484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1520" y="1922697"/>
            <a:ext cx="3924367" cy="347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sz="2133" b="true">
                <a:solidFill>
                  <a:srgbClr val="A1CC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👍 Ventajas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Escalabilidad: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Crece fácilmente desde equipos pequeños a organizaciones masivas.</a:t>
            </a:r>
          </a:p>
          <a:p>
            <a:pPr algn="just">
              <a:lnSpc>
                <a:spcPts val="1727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Visibilidad: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Los 6 hitos por feature permiten medir el avance real y detectar retrasos al instante.</a:t>
            </a:r>
          </a:p>
          <a:p>
            <a:pPr algn="just">
              <a:lnSpc>
                <a:spcPts val="1727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Menos Reuniones: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 basa en documentación sólida y modelado, reduciendo la sobrecarga de juntas.</a:t>
            </a:r>
          </a:p>
          <a:p>
            <a:pPr algn="just">
              <a:lnSpc>
                <a:spcPts val="1727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Calidad: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Inspecciones de código estrictas previenen errores graves a futuro.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97713" y="1922697"/>
            <a:ext cx="3924367" cy="3038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sz="2133" b="true">
                <a:solidFill>
                  <a:srgbClr val="EA26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👎 Desventajas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Curva de Aprendizaje: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 una alta experiencia en modelado y arquitectura de sistemas.</a:t>
            </a:r>
          </a:p>
          <a:p>
            <a:pPr algn="just">
              <a:lnSpc>
                <a:spcPts val="1727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Rigidez ante Cambios Mayores: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Un cambio drástico en los requerimientos puede afectar todo el modelado de dominio.</a:t>
            </a:r>
          </a:p>
          <a:p>
            <a:pPr algn="just">
              <a:lnSpc>
                <a:spcPts val="1727"/>
              </a:lnSpc>
            </a:pPr>
          </a:p>
          <a:p>
            <a:pPr algn="just">
              <a:lnSpc>
                <a:spcPts val="1727"/>
              </a:lnSpc>
            </a:pPr>
            <a:r>
              <a:rPr lang="en-US" sz="15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Poco Amigables para Startups: </a:t>
            </a:r>
            <a:r>
              <a:rPr lang="en-US" sz="1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 estructura jerárquica no es ideal para equipos menores de 10 personas.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7932591" cy="1127478"/>
            <a:chOff x="0" y="0"/>
            <a:chExt cx="10576789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76791" cy="1503310"/>
            </a:xfrm>
            <a:custGeom>
              <a:avLst/>
              <a:gdLst/>
              <a:ahLst/>
              <a:cxnLst/>
              <a:rect r="r" b="b" t="t" l="l"/>
              <a:pathLst>
                <a:path h="1503310" w="10576791">
                  <a:moveTo>
                    <a:pt x="0" y="0"/>
                  </a:moveTo>
                  <a:lnTo>
                    <a:pt x="10576791" y="0"/>
                  </a:lnTo>
                  <a:lnTo>
                    <a:pt x="10576791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0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76789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¿Cuando aplicar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FDD</a:t>
              </a: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97226" y="1824198"/>
            <a:ext cx="3624854" cy="4209508"/>
          </a:xfrm>
          <a:custGeom>
            <a:avLst/>
            <a:gdLst/>
            <a:ahLst/>
            <a:cxnLst/>
            <a:rect r="r" b="b" t="t" l="l"/>
            <a:pathLst>
              <a:path h="4209508" w="3624854">
                <a:moveTo>
                  <a:pt x="0" y="0"/>
                </a:moveTo>
                <a:lnTo>
                  <a:pt x="3624854" y="0"/>
                </a:lnTo>
                <a:lnTo>
                  <a:pt x="3624854" y="4209508"/>
                </a:lnTo>
                <a:lnTo>
                  <a:pt x="0" y="420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1520" y="1795623"/>
            <a:ext cx="4542446" cy="491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sz="2133" b="true">
                <a:solidFill>
                  <a:srgbClr val="A1CC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Entornos Empresariales Complejos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2303"/>
              </a:lnSpc>
            </a:pPr>
            <a:r>
              <a:rPr lang="en-US" sz="213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FDD </a:t>
            </a: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brilla en proyectos donde el dominio del problema es vasto y el equipo de desarrollo supera los 30-50 integrantes. Su estructura lo hace perfecto para industrias con baja tolerancia al error.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2303"/>
              </a:lnSpc>
            </a:pPr>
            <a:r>
              <a:rPr lang="en-US" sz="213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Casos ideales: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2303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Bancarios y Financieros.</a:t>
            </a:r>
          </a:p>
          <a:p>
            <a:pPr algn="l" marL="460586" indent="-230293" lvl="1">
              <a:lnSpc>
                <a:spcPts val="2303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Hospitalario y Gestión médica.</a:t>
            </a:r>
          </a:p>
          <a:p>
            <a:pPr algn="l" marL="460586" indent="-230293" lvl="1">
              <a:lnSpc>
                <a:spcPts val="2303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Grandes ERPs Corporativos</a:t>
            </a:r>
          </a:p>
          <a:p>
            <a:pPr algn="l" marL="460586" indent="-230293" lvl="1">
              <a:lnSpc>
                <a:spcPts val="2303"/>
              </a:lnSpc>
              <a:buFont typeface="Arial"/>
              <a:buChar char="•"/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Modernización de sistemas heredados (Legacy)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507254"/>
            <a:ext cx="7932591" cy="1127478"/>
            <a:chOff x="0" y="0"/>
            <a:chExt cx="10576789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76791" cy="1503310"/>
            </a:xfrm>
            <a:custGeom>
              <a:avLst/>
              <a:gdLst/>
              <a:ahLst/>
              <a:cxnLst/>
              <a:rect r="r" b="b" t="t" l="l"/>
              <a:pathLst>
                <a:path h="1503310" w="10576791">
                  <a:moveTo>
                    <a:pt x="0" y="0"/>
                  </a:moveTo>
                  <a:lnTo>
                    <a:pt x="10576791" y="0"/>
                  </a:lnTo>
                  <a:lnTo>
                    <a:pt x="10576791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0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576789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Comparativa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104900" y="2085975"/>
          <a:ext cx="7543800" cy="3143250"/>
        </p:xfrm>
        <a:graphic>
          <a:graphicData uri="http://schemas.openxmlformats.org/presentationml/2006/ole">
            <p:oleObj imgW="9042400" imgH="4648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733142"/>
            <a:ext cx="8332489" cy="1127478"/>
            <a:chOff x="0" y="0"/>
            <a:chExt cx="11109985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09988" cy="1503310"/>
            </a:xfrm>
            <a:custGeom>
              <a:avLst/>
              <a:gdLst/>
              <a:ahLst/>
              <a:cxnLst/>
              <a:rect r="r" b="b" t="t" l="l"/>
              <a:pathLst>
                <a:path h="1503310" w="11109988">
                  <a:moveTo>
                    <a:pt x="0" y="0"/>
                  </a:moveTo>
                  <a:lnTo>
                    <a:pt x="11109988" y="0"/>
                  </a:lnTo>
                  <a:lnTo>
                    <a:pt x="11109988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4799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109985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Ejemplo: </a:t>
              </a: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E-commerce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06043" y="2314645"/>
            <a:ext cx="4816037" cy="385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4"/>
              </a:lnSpc>
            </a:pPr>
            <a:r>
              <a:rPr lang="en-US" sz="1800" b="true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Feature: “Añadir al Carrito”</a:t>
            </a:r>
          </a:p>
          <a:p>
            <a:pPr algn="just">
              <a:lnSpc>
                <a:spcPts val="1944"/>
              </a:lnSpc>
            </a:pPr>
          </a:p>
          <a:p>
            <a:pPr algn="just">
              <a:lnSpc>
                <a:spcPts val="1944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 lugar de construir todo el módulo de ventas a la vez, FDD aisla esta función:</a:t>
            </a:r>
          </a:p>
          <a:p>
            <a:pPr algn="l">
              <a:lnSpc>
                <a:spcPts val="1944"/>
              </a:lnSpc>
            </a:pPr>
          </a:p>
          <a:p>
            <a:pPr algn="l" marL="388620" indent="-194310" lvl="1">
              <a:lnSpc>
                <a:spcPts val="194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Experto de Dominio: 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Define reglas (ej: validar inventario antes de añadir)</a:t>
            </a:r>
          </a:p>
          <a:p>
            <a:pPr algn="l" marL="388620" indent="-194310" lvl="1">
              <a:lnSpc>
                <a:spcPts val="194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Chief Architect: 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Asegura la conexión de esta feature con la Base de Datos y Sesiones de Usuario.</a:t>
            </a:r>
          </a:p>
          <a:p>
            <a:pPr algn="l" marL="388620" indent="-194310" lvl="1">
              <a:lnSpc>
                <a:spcPts val="194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Chief Programmer: 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Lidera un equipo temporal para desarrollar la función en menos de 10 días.</a:t>
            </a:r>
          </a:p>
          <a:p>
            <a:pPr algn="l" marL="388620" indent="-194310" lvl="1">
              <a:lnSpc>
                <a:spcPts val="194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Owners: </a:t>
            </a: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Codifican las clases ‘Producto’, ‘Carrito’ y ‘Sesión’ en paralelo, integrando sus partes al final de la iteración.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75291" y="2440375"/>
            <a:ext cx="3730752" cy="37307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067" t="0" r="-7671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591" y="733142"/>
            <a:ext cx="8332489" cy="1127478"/>
            <a:chOff x="0" y="0"/>
            <a:chExt cx="11109985" cy="1503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09988" cy="1503310"/>
            </a:xfrm>
            <a:custGeom>
              <a:avLst/>
              <a:gdLst/>
              <a:ahLst/>
              <a:cxnLst/>
              <a:rect r="r" b="b" t="t" l="l"/>
              <a:pathLst>
                <a:path h="1503310" w="11109988">
                  <a:moveTo>
                    <a:pt x="0" y="0"/>
                  </a:moveTo>
                  <a:lnTo>
                    <a:pt x="11109988" y="0"/>
                  </a:lnTo>
                  <a:lnTo>
                    <a:pt x="11109988" y="1503310"/>
                  </a:lnTo>
                  <a:lnTo>
                    <a:pt x="0" y="15033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90" r="4799" b="-8708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109985" cy="1541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68"/>
                </a:lnSpc>
              </a:pPr>
              <a:r>
                <a:rPr lang="en-US" sz="4693">
                  <a:solidFill>
                    <a:srgbClr val="00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Gracias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65005" y="733142"/>
            <a:ext cx="4023591" cy="2483310"/>
          </a:xfrm>
          <a:custGeom>
            <a:avLst/>
            <a:gdLst/>
            <a:ahLst/>
            <a:cxnLst/>
            <a:rect r="r" b="b" t="t" l="l"/>
            <a:pathLst>
              <a:path h="2483310" w="4023591">
                <a:moveTo>
                  <a:pt x="0" y="0"/>
                </a:moveTo>
                <a:lnTo>
                  <a:pt x="4023590" y="0"/>
                </a:lnTo>
                <a:lnTo>
                  <a:pt x="4023590" y="2483310"/>
                </a:lnTo>
                <a:lnTo>
                  <a:pt x="0" y="2483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9941" y="3364563"/>
            <a:ext cx="7933717" cy="26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sz="2133">
                <a:solidFill>
                  <a:srgbClr val="FFFF00"/>
                </a:solidFill>
                <a:latin typeface="Calibri (MS)"/>
                <a:ea typeface="Calibri (MS)"/>
                <a:cs typeface="Calibri (MS)"/>
                <a:sym typeface="Calibri (MS)"/>
              </a:rPr>
              <a:t>Fuentes: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2303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https://www.lucidchart.com/blog/es/utilizar-el-desarrollo-basado-en-funciones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2303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https://monday.com/blog/rnd/feature-driven-development-fdd/</a:t>
            </a:r>
          </a:p>
          <a:p>
            <a:pPr algn="just">
              <a:lnSpc>
                <a:spcPts val="2303"/>
              </a:lnSpc>
            </a:pPr>
          </a:p>
          <a:p>
            <a:pPr algn="just">
              <a:lnSpc>
                <a:spcPts val="2303"/>
              </a:lnSpc>
            </a:pPr>
            <a:r>
              <a:rPr lang="en-US" sz="21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https://www.pmoinformatica.com/2012/11/5-preguntas-y-respuestas-sobre-el.html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DAHLA-pUkhY</dc:identifier>
  <dcterms:modified xsi:type="dcterms:W3CDTF">2011-08-01T06:04:30Z</dcterms:modified>
  <cp:revision>1</cp:revision>
  <dc:title>9no Metodología FDD ProfMario</dc:title>
</cp:coreProperties>
</file>